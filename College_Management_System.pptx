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2A4A"/>
    <a:srgbClr val="0D8A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226" y="-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9067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35219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Management System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11480" y="1212459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F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– Console Based with MySQL  |  Java Application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D596613F-11F0-1C4B-4A04-979D4379C007}"/>
              </a:ext>
            </a:extLst>
          </p:cNvPr>
          <p:cNvSpPr/>
          <p:nvPr/>
        </p:nvSpPr>
        <p:spPr>
          <a:xfrm>
            <a:off x="411480" y="2805626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F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80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BBC04B-FFF9-8889-3F63-00BF1B407A74}"/>
              </a:ext>
            </a:extLst>
          </p:cNvPr>
          <p:cNvCxnSpPr>
            <a:cxnSpLocks/>
          </p:cNvCxnSpPr>
          <p:nvPr/>
        </p:nvCxnSpPr>
        <p:spPr>
          <a:xfrm>
            <a:off x="411480" y="3172264"/>
            <a:ext cx="1424353" cy="0"/>
          </a:xfrm>
          <a:prstGeom prst="line">
            <a:avLst/>
          </a:prstGeom>
          <a:ln w="28575">
            <a:solidFill>
              <a:srgbClr val="0D8A8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BED79B3-52EB-2E90-DB87-E760F76E04ED}"/>
              </a:ext>
            </a:extLst>
          </p:cNvPr>
          <p:cNvSpPr/>
          <p:nvPr/>
        </p:nvSpPr>
        <p:spPr>
          <a:xfrm>
            <a:off x="710418" y="3488788"/>
            <a:ext cx="2208628" cy="44225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D00D08-EBE1-1B78-ACD1-B699518F5134}"/>
              </a:ext>
            </a:extLst>
          </p:cNvPr>
          <p:cNvSpPr/>
          <p:nvPr/>
        </p:nvSpPr>
        <p:spPr>
          <a:xfrm>
            <a:off x="6523892" y="3488788"/>
            <a:ext cx="2208628" cy="44225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98DC8E-707D-1D81-B6E1-A18F56A581D1}"/>
              </a:ext>
            </a:extLst>
          </p:cNvPr>
          <p:cNvSpPr/>
          <p:nvPr/>
        </p:nvSpPr>
        <p:spPr>
          <a:xfrm>
            <a:off x="3633567" y="3488788"/>
            <a:ext cx="2208628" cy="44225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74B3E4-1F8F-DFDD-3DE9-12395C5BB926}"/>
              </a:ext>
            </a:extLst>
          </p:cNvPr>
          <p:cNvSpPr/>
          <p:nvPr/>
        </p:nvSpPr>
        <p:spPr>
          <a:xfrm>
            <a:off x="710418" y="3488788"/>
            <a:ext cx="70339" cy="442253"/>
          </a:xfrm>
          <a:prstGeom prst="rect">
            <a:avLst/>
          </a:prstGeom>
          <a:solidFill>
            <a:srgbClr val="0D8A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D928D4-D8B1-BF6E-87FF-E8A3E0A83086}"/>
              </a:ext>
            </a:extLst>
          </p:cNvPr>
          <p:cNvSpPr/>
          <p:nvPr/>
        </p:nvSpPr>
        <p:spPr>
          <a:xfrm>
            <a:off x="6498099" y="3488787"/>
            <a:ext cx="70339" cy="442255"/>
          </a:xfrm>
          <a:prstGeom prst="rect">
            <a:avLst/>
          </a:prstGeom>
          <a:solidFill>
            <a:srgbClr val="0D8A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BBF022-F064-5A20-27ED-64BE81BDC521}"/>
              </a:ext>
            </a:extLst>
          </p:cNvPr>
          <p:cNvSpPr/>
          <p:nvPr/>
        </p:nvSpPr>
        <p:spPr>
          <a:xfrm>
            <a:off x="3619499" y="3488787"/>
            <a:ext cx="70339" cy="442255"/>
          </a:xfrm>
          <a:prstGeom prst="rect">
            <a:avLst/>
          </a:prstGeom>
          <a:solidFill>
            <a:srgbClr val="0D8A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A60CAE-695E-D394-74B2-7FEFEFF1049E}"/>
              </a:ext>
            </a:extLst>
          </p:cNvPr>
          <p:cNvSpPr txBox="1"/>
          <p:nvPr/>
        </p:nvSpPr>
        <p:spPr>
          <a:xfrm>
            <a:off x="794825" y="3572315"/>
            <a:ext cx="194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>
                <a:solidFill>
                  <a:schemeClr val="tx2">
                    <a:lumMod val="50000"/>
                  </a:schemeClr>
                </a:solidFill>
              </a:rPr>
              <a:t>Haritha S 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EB9FED-C8B0-61E8-C894-BA06B011116A}"/>
              </a:ext>
            </a:extLst>
          </p:cNvPr>
          <p:cNvSpPr txBox="1"/>
          <p:nvPr/>
        </p:nvSpPr>
        <p:spPr>
          <a:xfrm>
            <a:off x="6594231" y="3570718"/>
            <a:ext cx="194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>
                <a:solidFill>
                  <a:schemeClr val="tx2">
                    <a:lumMod val="50000"/>
                  </a:schemeClr>
                </a:solidFill>
              </a:rPr>
              <a:t>Jerishwin Joseph 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EC9C64-6FCD-FDB6-9BAD-88787E2BFB26}"/>
              </a:ext>
            </a:extLst>
          </p:cNvPr>
          <p:cNvSpPr txBox="1"/>
          <p:nvPr/>
        </p:nvSpPr>
        <p:spPr>
          <a:xfrm>
            <a:off x="3703906" y="3573781"/>
            <a:ext cx="194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>
                <a:solidFill>
                  <a:schemeClr val="tx2">
                    <a:lumMod val="50000"/>
                  </a:schemeClr>
                </a:solidFill>
              </a:rPr>
              <a:t>Balamurugan 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155448"/>
            <a:ext cx="338328" cy="338328"/>
          </a:xfrm>
          <a:prstGeom prst="ellipse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731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Agenda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1024128"/>
            <a:ext cx="4160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24128"/>
            <a:ext cx="64008" cy="82296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" y="10972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10972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" y="149961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scope and technology stack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0" y="1024128"/>
            <a:ext cx="4160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1024128"/>
            <a:ext cx="64008" cy="82296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0016" y="109728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230368" y="10972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00016" y="149961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 &amp; 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2029968"/>
            <a:ext cx="4160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28600" y="2029968"/>
            <a:ext cx="64008" cy="82296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" y="21031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6968" y="210312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6616" y="250545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functional modules at a glance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2029968"/>
            <a:ext cx="4160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2029968"/>
            <a:ext cx="64008" cy="82296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0016" y="21031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230368" y="210312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00016" y="250545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Faculty, Student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8600" y="3035808"/>
            <a:ext cx="4160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8600" y="3035808"/>
            <a:ext cx="64008" cy="82296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" y="31089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86968" y="310896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56616" y="351129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&amp; relationships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3035808"/>
            <a:ext cx="41605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0" y="3035808"/>
            <a:ext cx="64008" cy="82296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0016" y="31089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230368" y="310896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700016" y="351129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Performance, security &amp; reliability</a:t>
            </a:r>
            <a:endParaRPr lang="en-US" sz="1000" dirty="0"/>
          </a:p>
        </p:txBody>
      </p:sp>
      <p:pic>
        <p:nvPicPr>
          <p:cNvPr id="36" name="Graphic 35" descr="Exclamation mark with solid fill">
            <a:extLst>
              <a:ext uri="{FF2B5EF4-FFF2-40B4-BE49-F238E27FC236}">
                <a16:creationId xmlns:a16="http://schemas.microsoft.com/office/drawing/2014/main" id="{BEEB8A52-12A9-1E73-3627-092B945390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1163" y="20574"/>
            <a:ext cx="473202" cy="4732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8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CC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· Scope · Technology Stack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155448"/>
            <a:ext cx="338328" cy="338328"/>
          </a:xfrm>
          <a:prstGeom prst="ellipse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731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71323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College Management System?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960120"/>
            <a:ext cx="64008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05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261872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console-based Java application connected to MySQL for managing academic &amp; administrative activities including students, faculty, courses, exams, attendance and library.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1783080"/>
            <a:ext cx="4160520" cy="30632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" y="1783080"/>
            <a:ext cx="64008" cy="306324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" y="18745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— Key Functionalities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" y="2221992"/>
            <a:ext cx="3977640" cy="2532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 (Admin / Faculty / Student)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and faculty management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creation &amp; enrollment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scheduling &amp; result processing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 &amp; attendance tracking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&amp; study material management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management &amp; notifications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1783080"/>
            <a:ext cx="4160520" cy="30632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1783080"/>
            <a:ext cx="64008" cy="3063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0016" y="18745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00016" y="2221992"/>
            <a:ext cx="3977640" cy="2532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Java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Database: MySQL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Tool: Apache Maven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IDE: Eclipse IDE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Interface: Menu-driven Console (CLI)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OS: Windows 11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Layered (Controller / Service / DAO / Model)</a:t>
            </a: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Tools : Git , GitHub &amp; Jira</a:t>
            </a:r>
            <a:endParaRPr lang="en-US" sz="1200" dirty="0"/>
          </a:p>
        </p:txBody>
      </p:sp>
      <p:pic>
        <p:nvPicPr>
          <p:cNvPr id="19" name="Graphic 18" descr="Checkmark with solid fill">
            <a:extLst>
              <a:ext uri="{FF2B5EF4-FFF2-40B4-BE49-F238E27FC236}">
                <a16:creationId xmlns:a16="http://schemas.microsoft.com/office/drawing/2014/main" id="{BEE282E0-FD66-6C32-B4D6-E1E86316F7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5364" y="121158"/>
            <a:ext cx="406908" cy="4069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8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CC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 with clean separation of concerns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155448"/>
            <a:ext cx="338328" cy="338328"/>
          </a:xfrm>
          <a:prstGeom prst="ellipse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731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71323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 → DAO → Model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1005840"/>
            <a:ext cx="64008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554480" y="10789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Layer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140817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user input from the console menu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755648"/>
            <a:ext cx="0" cy="100584"/>
          </a:xfrm>
          <a:prstGeom prst="line">
            <a:avLst/>
          </a:prstGeom>
          <a:noFill/>
          <a:ln w="19050">
            <a:solidFill>
              <a:srgbClr val="7090A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371600" y="1856232"/>
            <a:ext cx="6400800" cy="749808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54480" y="1929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Layer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258568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and validation rules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606040"/>
            <a:ext cx="0" cy="100584"/>
          </a:xfrm>
          <a:prstGeom prst="line">
            <a:avLst/>
          </a:prstGeom>
          <a:noFill/>
          <a:ln w="19050">
            <a:solidFill>
              <a:srgbClr val="7090A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371600" y="2706624"/>
            <a:ext cx="6400800" cy="749808"/>
          </a:xfrm>
          <a:prstGeom prst="rect">
            <a:avLst/>
          </a:prstGeom>
          <a:solidFill>
            <a:srgbClr val="1A7A6A"/>
          </a:solidFill>
          <a:ln w="12700">
            <a:solidFill>
              <a:srgbClr val="1A7A6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554480" y="27797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 Layer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10896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operations (CRUD via JDBC)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3456432"/>
            <a:ext cx="0" cy="100584"/>
          </a:xfrm>
          <a:prstGeom prst="line">
            <a:avLst/>
          </a:prstGeom>
          <a:noFill/>
          <a:ln w="19050">
            <a:solidFill>
              <a:srgbClr val="7090A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371600" y="3557016"/>
            <a:ext cx="6400800" cy="7498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554480" y="36301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Layer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54480" y="39593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classes 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01000" y="1005840"/>
            <a:ext cx="822960" cy="3840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 rot="5400000">
            <a:off x="8019288" y="2103120"/>
            <a:ext cx="777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Database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8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CC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functional modules powering the system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155448"/>
            <a:ext cx="338328" cy="338328"/>
          </a:xfrm>
          <a:prstGeom prst="ellipse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731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71323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epics at a glance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960120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7" name="Shape 5"/>
          <p:cNvSpPr/>
          <p:nvPr/>
        </p:nvSpPr>
        <p:spPr>
          <a:xfrm>
            <a:off x="182880" y="960120"/>
            <a:ext cx="64008" cy="100584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0896" y="10149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59536" y="103327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/>
              <a:t>Login Authentication</a:t>
            </a:r>
            <a:r>
              <a:rPr lang="en-IN" sz="1300" dirty="0"/>
              <a:t> 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15819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login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63824" y="960120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2" name="Shape 10"/>
          <p:cNvSpPr/>
          <p:nvPr/>
        </p:nvSpPr>
        <p:spPr>
          <a:xfrm>
            <a:off x="3163824" y="960120"/>
            <a:ext cx="64008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0149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840480" y="103327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/>
              <a:t>Student Information Management</a:t>
            </a:r>
            <a:r>
              <a:rPr lang="en-IN" sz="1300" dirty="0"/>
              <a:t>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15819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Records, attendance, leave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44768" y="960120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44768" y="960120"/>
            <a:ext cx="64008" cy="1005840"/>
          </a:xfrm>
          <a:prstGeom prst="rect">
            <a:avLst/>
          </a:prstGeom>
          <a:solidFill>
            <a:srgbClr val="1A7A6A"/>
          </a:solidFill>
          <a:ln w="12700">
            <a:solidFill>
              <a:srgbClr val="1A7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72784" y="10149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21424" y="103327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/>
              <a:t>Course and Curriculum Management</a:t>
            </a:r>
            <a:r>
              <a:rPr lang="en-IN" sz="1300" dirty="0"/>
              <a:t> 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72784" y="15819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assign, enroll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82880" y="2121408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2" name="Shape 20"/>
          <p:cNvSpPr/>
          <p:nvPr/>
        </p:nvSpPr>
        <p:spPr>
          <a:xfrm>
            <a:off x="182880" y="2121408"/>
            <a:ext cx="64008" cy="1005840"/>
          </a:xfrm>
          <a:prstGeom prst="rect">
            <a:avLst/>
          </a:prstGeom>
          <a:solidFill>
            <a:srgbClr val="1A5C7A"/>
          </a:solidFill>
          <a:ln w="12700">
            <a:solidFill>
              <a:srgbClr val="1A5C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59536" y="219456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/>
              <a:t>Faculty Management</a:t>
            </a:r>
            <a:r>
              <a:rPr lang="en-IN" sz="1300" dirty="0"/>
              <a:t> 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10896" y="2743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course view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163824" y="2121408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63824" y="2121408"/>
            <a:ext cx="6400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840480" y="219456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/>
              <a:t>Timetable Management</a:t>
            </a:r>
            <a:r>
              <a:rPr lang="en-IN" sz="1300" dirty="0"/>
              <a:t> 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291840" y="2743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&amp; notifications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44768" y="2121408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32" name="Shape 30"/>
          <p:cNvSpPr/>
          <p:nvPr/>
        </p:nvSpPr>
        <p:spPr>
          <a:xfrm>
            <a:off x="6144768" y="2121408"/>
            <a:ext cx="64008" cy="100584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72784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821424" y="219456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Exam &amp; Results </a:t>
            </a:r>
            <a:r>
              <a:rPr lang="en-US" sz="1300" b="1" dirty="0"/>
              <a:t>Management</a:t>
            </a:r>
            <a:r>
              <a:rPr lang="en-IN" sz="1300" dirty="0"/>
              <a:t> 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272784" y="2743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Schedule, marks, grades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82880" y="3282696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82880" y="3282696"/>
            <a:ext cx="64008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0896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859536" y="33558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Management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10896" y="3904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Role/user-targeted alerts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163824" y="3282696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163824" y="3282696"/>
            <a:ext cx="64008" cy="1005840"/>
          </a:xfrm>
          <a:prstGeom prst="rect">
            <a:avLst/>
          </a:prstGeom>
          <a:solidFill>
            <a:srgbClr val="1A7A6A"/>
          </a:solidFill>
          <a:ln w="12700">
            <a:solidFill>
              <a:srgbClr val="1A7A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1840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3840480" y="33558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Management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291840" y="3904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Books, borrow &amp; return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44768" y="3282696"/>
            <a:ext cx="2834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144768" y="3282696"/>
            <a:ext cx="64008" cy="1005840"/>
          </a:xfrm>
          <a:prstGeom prst="rect">
            <a:avLst/>
          </a:prstGeom>
          <a:solidFill>
            <a:srgbClr val="1A5C7A"/>
          </a:solidFill>
          <a:ln w="12700">
            <a:solidFill>
              <a:srgbClr val="1A5C7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72784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6821424" y="33558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272784" y="3904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0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monitoring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8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CC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Faculty · Student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155448"/>
            <a:ext cx="338328" cy="338328"/>
          </a:xfrm>
          <a:prstGeom prst="ellipse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731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 &amp; Permissions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71323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960120"/>
            <a:ext cx="278892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987552"/>
            <a:ext cx="2651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2880" y="1463040"/>
            <a:ext cx="2788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1536192"/>
            <a:ext cx="2651760" cy="23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over system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students &amp; faculty records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courses to faculty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exams &amp; publish results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&amp; manage timetables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notifications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library books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dashboards &amp; generate reports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36392" y="960120"/>
            <a:ext cx="2788920" cy="50292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27832" y="987552"/>
            <a:ext cx="2651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136392" y="1463040"/>
            <a:ext cx="2788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27832" y="1536192"/>
            <a:ext cx="2651760" cy="2109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assigned courses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&amp; update student attendance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and upload student marks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assignments &amp; study materials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teaching timetable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library books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notification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89904" y="960120"/>
            <a:ext cx="2788920" cy="502920"/>
          </a:xfrm>
          <a:prstGeom prst="rect">
            <a:avLst/>
          </a:prstGeom>
          <a:solidFill>
            <a:srgbClr val="1A7A6A"/>
          </a:solidFill>
          <a:ln w="12700">
            <a:solidFill>
              <a:srgbClr val="1A7A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987552"/>
            <a:ext cx="2651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89904" y="1463040"/>
            <a:ext cx="2788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81344" y="1536192"/>
            <a:ext cx="2651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enrolled courses &amp; materials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class timetable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exam results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personal attendance records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notifications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&amp; return library books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8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CC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schema — 15 tables with foreign-key relationships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155448"/>
            <a:ext cx="338328" cy="338328"/>
          </a:xfrm>
          <a:prstGeom prst="ellipse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731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 &amp; Relationships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71323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— cms_db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005840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005840"/>
            <a:ext cx="54864" cy="475488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109728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920240" y="1005840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920240" y="1005840"/>
            <a:ext cx="54864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29968" y="109728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0" y="1005840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0" y="1005840"/>
            <a:ext cx="54864" cy="475488"/>
          </a:xfrm>
          <a:prstGeom prst="rect">
            <a:avLst/>
          </a:prstGeom>
          <a:solidFill>
            <a:srgbClr val="1A7A6A"/>
          </a:solidFill>
          <a:ln w="12700">
            <a:solidFill>
              <a:srgbClr val="1A7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67328" y="109728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94960" y="1005840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94960" y="1005840"/>
            <a:ext cx="54864" cy="475488"/>
          </a:xfrm>
          <a:prstGeom prst="rect">
            <a:avLst/>
          </a:prstGeom>
          <a:solidFill>
            <a:srgbClr val="1A5C7A"/>
          </a:solidFill>
          <a:ln w="12700">
            <a:solidFill>
              <a:srgbClr val="1A5C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04688" y="109728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132320" y="1005840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32320" y="1005840"/>
            <a:ext cx="54864" cy="47548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42048" y="1097280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2880" y="1618488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1618488"/>
            <a:ext cx="54864" cy="475488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17099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920240" y="1618488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920240" y="1618488"/>
            <a:ext cx="54864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29968" y="17099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0" y="1618488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57600" y="1618488"/>
            <a:ext cx="54864" cy="475488"/>
          </a:xfrm>
          <a:prstGeom prst="rect">
            <a:avLst/>
          </a:prstGeom>
          <a:solidFill>
            <a:srgbClr val="1A7A6A"/>
          </a:solidFill>
          <a:ln w="12700">
            <a:solidFill>
              <a:srgbClr val="1A7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67328" y="17099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94960" y="1618488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394960" y="1618488"/>
            <a:ext cx="54864" cy="475488"/>
          </a:xfrm>
          <a:prstGeom prst="rect">
            <a:avLst/>
          </a:prstGeom>
          <a:solidFill>
            <a:srgbClr val="1A5C7A"/>
          </a:solidFill>
          <a:ln w="12700">
            <a:solidFill>
              <a:srgbClr val="1A5C7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04688" y="17099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132320" y="1618488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132320" y="1618488"/>
            <a:ext cx="54864" cy="47548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42048" y="17099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82880" y="2231136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82880" y="2231136"/>
            <a:ext cx="54864" cy="475488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" y="2322576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920240" y="2231136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920240" y="2231136"/>
            <a:ext cx="54864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9968" y="2322576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0" y="2231136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657600" y="2231136"/>
            <a:ext cx="54864" cy="475488"/>
          </a:xfrm>
          <a:prstGeom prst="rect">
            <a:avLst/>
          </a:prstGeom>
          <a:solidFill>
            <a:srgbClr val="1A7A6A"/>
          </a:solidFill>
          <a:ln w="12700">
            <a:solidFill>
              <a:srgbClr val="1A7A6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67328" y="2322576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394960" y="2231136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394960" y="2231136"/>
            <a:ext cx="54864" cy="475488"/>
          </a:xfrm>
          <a:prstGeom prst="rect">
            <a:avLst/>
          </a:prstGeom>
          <a:solidFill>
            <a:srgbClr val="1A5C7A"/>
          </a:solidFill>
          <a:ln w="12700">
            <a:solidFill>
              <a:srgbClr val="1A5C7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04688" y="2322576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borrow_records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132320" y="2231136"/>
            <a:ext cx="16642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38100" dist="127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7132320" y="2231136"/>
            <a:ext cx="54864" cy="47548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42048" y="2322576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182880" y="4251960"/>
            <a:ext cx="877824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" y="432511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Relationships: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→ 1 role   |   1 course → 1 faculty   |   1 student → many courses   |   1 course → many exams   |   Foreign keys enforced with CASCADE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8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CC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· Security · Usability · Reliability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155448"/>
            <a:ext cx="338328" cy="338328"/>
          </a:xfrm>
          <a:prstGeom prst="ellipse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731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71323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attributes of the system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960120"/>
            <a:ext cx="4206240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24128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82880" y="1417320"/>
            <a:ext cx="4206240" cy="1536895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1490472"/>
            <a:ext cx="4069080" cy="14637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responds quickly to user inputs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SQL queries for fast data retrieval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17720" y="960120"/>
            <a:ext cx="420624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024128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417320"/>
            <a:ext cx="4206240" cy="1536895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09160" y="1490472"/>
            <a:ext cx="4069080" cy="14637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login using email &amp; password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(RBAC)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only access permitted modules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2880" y="3063591"/>
            <a:ext cx="4206240" cy="45720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127599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82880" y="3506723"/>
            <a:ext cx="4206240" cy="148132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4320" y="3452563"/>
            <a:ext cx="4069080" cy="1535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Menu-driven console interface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 navigation for all roles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error and confirmation messages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3049523"/>
            <a:ext cx="4206240" cy="457200"/>
          </a:xfrm>
          <a:prstGeom prst="rect">
            <a:avLst/>
          </a:prstGeom>
          <a:solidFill>
            <a:srgbClr val="1A7A6A"/>
          </a:solidFill>
          <a:ln w="12700">
            <a:solidFill>
              <a:srgbClr val="1A7A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3123379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617720" y="3520791"/>
            <a:ext cx="4206240" cy="1467261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1" name="Text 19"/>
          <p:cNvSpPr/>
          <p:nvPr/>
        </p:nvSpPr>
        <p:spPr>
          <a:xfrm>
            <a:off x="4663440" y="3602031"/>
            <a:ext cx="4069080" cy="13860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consistency via DB constraints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 relationships prevent orphan data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enrollment prevention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43450"/>
            <a:ext cx="9144000" cy="1028700"/>
          </a:xfrm>
          <a:prstGeom prst="rect">
            <a:avLst/>
          </a:prstGeom>
          <a:solidFill>
            <a:srgbClr val="0D8A8A"/>
          </a:solidFill>
          <a:ln w="12700">
            <a:solidFill>
              <a:srgbClr val="0D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1148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0F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Management System  |  Console-Based Java Application with MySQL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607</Words>
  <Application>Microsoft Office PowerPoint</Application>
  <PresentationFormat>On-screen Show (16:9)</PresentationFormat>
  <Paragraphs>182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College Management System</dc:title>
  <dc:subject>PptxGenJS Presentation</dc:subject>
  <dc:creator>PptxGenJS</dc:creator>
  <cp:lastModifiedBy>Jerishwin Joseph</cp:lastModifiedBy>
  <cp:revision>8</cp:revision>
  <dcterms:created xsi:type="dcterms:W3CDTF">2026-04-09T15:17:52Z</dcterms:created>
  <dcterms:modified xsi:type="dcterms:W3CDTF">2026-04-10T06:10:42Z</dcterms:modified>
</cp:coreProperties>
</file>